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6" r:id="rId9"/>
    <p:sldId id="264" r:id="rId10"/>
    <p:sldId id="265" r:id="rId11"/>
    <p:sldId id="268" r:id="rId12"/>
    <p:sldId id="269" r:id="rId13"/>
    <p:sldId id="272" r:id="rId14"/>
    <p:sldId id="273" r:id="rId15"/>
    <p:sldId id="274" r:id="rId16"/>
    <p:sldId id="277" r:id="rId17"/>
    <p:sldId id="278" r:id="rId18"/>
  </p:sldIdLst>
  <p:sldSz cx="18288000" cy="10287000"/>
  <p:notesSz cx="6858000" cy="9144000"/>
  <p:embeddedFontLs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DM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4.sv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2.png"/><Relationship Id="rId7" Type="http://schemas.openxmlformats.org/officeDocument/2006/relationships/image" Target="../media/image14.sv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3.svg"/><Relationship Id="rId9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2.png"/><Relationship Id="rId7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37.svg"/><Relationship Id="rId5" Type="http://schemas.openxmlformats.org/officeDocument/2006/relationships/image" Target="../media/image12.png"/><Relationship Id="rId10" Type="http://schemas.openxmlformats.org/officeDocument/2006/relationships/image" Target="../media/image36.png"/><Relationship Id="rId4" Type="http://schemas.openxmlformats.org/officeDocument/2006/relationships/image" Target="../media/image33.svg"/><Relationship Id="rId9" Type="http://schemas.openxmlformats.org/officeDocument/2006/relationships/image" Target="../media/image3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13.png"/><Relationship Id="rId7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21722" y="1741537"/>
            <a:ext cx="10910134" cy="3281957"/>
            <a:chOff x="0" y="0"/>
            <a:chExt cx="2730109" cy="8212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30110" cy="821264"/>
            </a:xfrm>
            <a:custGeom>
              <a:avLst/>
              <a:gdLst/>
              <a:ahLst/>
              <a:cxnLst/>
              <a:rect l="l" t="t" r="r" b="b"/>
              <a:pathLst>
                <a:path w="2730110" h="821264">
                  <a:moveTo>
                    <a:pt x="70961" y="0"/>
                  </a:moveTo>
                  <a:lnTo>
                    <a:pt x="2659149" y="0"/>
                  </a:lnTo>
                  <a:cubicBezTo>
                    <a:pt x="2677969" y="0"/>
                    <a:pt x="2696018" y="7476"/>
                    <a:pt x="2709326" y="20784"/>
                  </a:cubicBezTo>
                  <a:cubicBezTo>
                    <a:pt x="2722633" y="34092"/>
                    <a:pt x="2730110" y="52141"/>
                    <a:pt x="2730110" y="70961"/>
                  </a:cubicBezTo>
                  <a:lnTo>
                    <a:pt x="2730110" y="750303"/>
                  </a:lnTo>
                  <a:cubicBezTo>
                    <a:pt x="2730110" y="769123"/>
                    <a:pt x="2722633" y="787173"/>
                    <a:pt x="2709326" y="800480"/>
                  </a:cubicBezTo>
                  <a:cubicBezTo>
                    <a:pt x="2696018" y="813788"/>
                    <a:pt x="2677969" y="821264"/>
                    <a:pt x="2659149" y="821264"/>
                  </a:cubicBezTo>
                  <a:lnTo>
                    <a:pt x="70961" y="821264"/>
                  </a:lnTo>
                  <a:cubicBezTo>
                    <a:pt x="52141" y="821264"/>
                    <a:pt x="34092" y="813788"/>
                    <a:pt x="20784" y="800480"/>
                  </a:cubicBezTo>
                  <a:cubicBezTo>
                    <a:pt x="7476" y="787173"/>
                    <a:pt x="0" y="769123"/>
                    <a:pt x="0" y="750303"/>
                  </a:cubicBezTo>
                  <a:lnTo>
                    <a:pt x="0" y="70961"/>
                  </a:lnTo>
                  <a:cubicBezTo>
                    <a:pt x="0" y="52141"/>
                    <a:pt x="7476" y="34092"/>
                    <a:pt x="20784" y="20784"/>
                  </a:cubicBezTo>
                  <a:cubicBezTo>
                    <a:pt x="34092" y="7476"/>
                    <a:pt x="52141" y="0"/>
                    <a:pt x="70961" y="0"/>
                  </a:cubicBezTo>
                  <a:close/>
                </a:path>
              </a:pathLst>
            </a:custGeom>
            <a:solidFill>
              <a:srgbClr val="C5F0EC">
                <a:alpha val="9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30109" cy="859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175242" y="5356869"/>
            <a:ext cx="7683106" cy="1743193"/>
            <a:chOff x="0" y="0"/>
            <a:chExt cx="2709809" cy="6148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809" cy="614819"/>
            </a:xfrm>
            <a:custGeom>
              <a:avLst/>
              <a:gdLst/>
              <a:ahLst/>
              <a:cxnLst/>
              <a:rect l="l" t="t" r="r" b="b"/>
              <a:pathLst>
                <a:path w="2709809" h="614819">
                  <a:moveTo>
                    <a:pt x="100765" y="0"/>
                  </a:moveTo>
                  <a:lnTo>
                    <a:pt x="2609044" y="0"/>
                  </a:lnTo>
                  <a:cubicBezTo>
                    <a:pt x="2664695" y="0"/>
                    <a:pt x="2709809" y="45114"/>
                    <a:pt x="2709809" y="100765"/>
                  </a:cubicBezTo>
                  <a:lnTo>
                    <a:pt x="2709809" y="514054"/>
                  </a:lnTo>
                  <a:cubicBezTo>
                    <a:pt x="2709809" y="569705"/>
                    <a:pt x="2664695" y="614819"/>
                    <a:pt x="2609044" y="614819"/>
                  </a:cubicBezTo>
                  <a:lnTo>
                    <a:pt x="100765" y="614819"/>
                  </a:lnTo>
                  <a:cubicBezTo>
                    <a:pt x="45114" y="614819"/>
                    <a:pt x="0" y="569705"/>
                    <a:pt x="0" y="514054"/>
                  </a:cubicBezTo>
                  <a:lnTo>
                    <a:pt x="0" y="100765"/>
                  </a:lnTo>
                  <a:cubicBezTo>
                    <a:pt x="0" y="45114"/>
                    <a:pt x="45114" y="0"/>
                    <a:pt x="100765" y="0"/>
                  </a:cubicBezTo>
                  <a:close/>
                </a:path>
              </a:pathLst>
            </a:custGeom>
            <a:solidFill>
              <a:srgbClr val="C5F0EC">
                <a:alpha val="86667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809" cy="652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38331" y="2114084"/>
            <a:ext cx="8605669" cy="2584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1"/>
              </a:lnSpc>
            </a:pPr>
            <a:r>
              <a:rPr lang="en-US" sz="7357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Patient Appointment Booking System</a:t>
            </a:r>
          </a:p>
        </p:txBody>
      </p:sp>
      <p:sp>
        <p:nvSpPr>
          <p:cNvPr id="10" name="Freeform 10"/>
          <p:cNvSpPr/>
          <p:nvPr/>
        </p:nvSpPr>
        <p:spPr>
          <a:xfrm>
            <a:off x="7458624" y="6920845"/>
            <a:ext cx="5517597" cy="2337455"/>
          </a:xfrm>
          <a:custGeom>
            <a:avLst/>
            <a:gdLst/>
            <a:ahLst/>
            <a:cxnLst/>
            <a:rect l="l" t="t" r="r" b="b"/>
            <a:pathLst>
              <a:path w="5517597" h="2337455">
                <a:moveTo>
                  <a:pt x="0" y="0"/>
                </a:moveTo>
                <a:lnTo>
                  <a:pt x="5517597" y="0"/>
                </a:lnTo>
                <a:lnTo>
                  <a:pt x="5517597" y="2337455"/>
                </a:lnTo>
                <a:lnTo>
                  <a:pt x="0" y="2337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327010" y="403104"/>
            <a:ext cx="3568542" cy="7148999"/>
          </a:xfrm>
          <a:custGeom>
            <a:avLst/>
            <a:gdLst/>
            <a:ahLst/>
            <a:cxnLst/>
            <a:rect l="l" t="t" r="r" b="b"/>
            <a:pathLst>
              <a:path w="3568542" h="7148999">
                <a:moveTo>
                  <a:pt x="0" y="0"/>
                </a:moveTo>
                <a:lnTo>
                  <a:pt x="3568542" y="0"/>
                </a:lnTo>
                <a:lnTo>
                  <a:pt x="3568542" y="7148998"/>
                </a:lnTo>
                <a:lnTo>
                  <a:pt x="0" y="71489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285060" y="1028700"/>
            <a:ext cx="4189615" cy="8229600"/>
          </a:xfrm>
          <a:custGeom>
            <a:avLst/>
            <a:gdLst/>
            <a:ahLst/>
            <a:cxnLst/>
            <a:rect l="l" t="t" r="r" b="b"/>
            <a:pathLst>
              <a:path w="4189615" h="8229600">
                <a:moveTo>
                  <a:pt x="0" y="0"/>
                </a:moveTo>
                <a:lnTo>
                  <a:pt x="4189615" y="0"/>
                </a:lnTo>
                <a:lnTo>
                  <a:pt x="418961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963262" y="3089065"/>
            <a:ext cx="8296038" cy="6169235"/>
          </a:xfrm>
          <a:custGeom>
            <a:avLst/>
            <a:gdLst/>
            <a:ahLst/>
            <a:cxnLst/>
            <a:rect l="l" t="t" r="r" b="b"/>
            <a:pathLst>
              <a:path w="8296038" h="6169235">
                <a:moveTo>
                  <a:pt x="0" y="0"/>
                </a:moveTo>
                <a:lnTo>
                  <a:pt x="8296038" y="0"/>
                </a:lnTo>
                <a:lnTo>
                  <a:pt x="8296038" y="6169235"/>
                </a:lnTo>
                <a:lnTo>
                  <a:pt x="0" y="61692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0" y="5424045"/>
            <a:ext cx="2365688" cy="27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1"/>
              </a:lnSpc>
            </a:pPr>
            <a:r>
              <a:rPr lang="en-US" sz="2290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41337" y="5980433"/>
            <a:ext cx="7499961" cy="94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2696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2520030095 Thipireddy Hansini</a:t>
            </a:r>
          </a:p>
          <a:p>
            <a:pPr algn="l">
              <a:lnSpc>
                <a:spcPts val="2427"/>
              </a:lnSpc>
            </a:pPr>
            <a:endParaRPr lang="en-US" sz="2696" b="1">
              <a:solidFill>
                <a:srgbClr val="234346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427"/>
              </a:lnSpc>
            </a:pPr>
            <a:r>
              <a:rPr lang="en-US" sz="2696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2520030542 Sappidi Rushvini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804499" y="1403911"/>
            <a:ext cx="6447258" cy="6485088"/>
          </a:xfrm>
          <a:custGeom>
            <a:avLst/>
            <a:gdLst/>
            <a:ahLst/>
            <a:cxnLst/>
            <a:rect l="l" t="t" r="r" b="b"/>
            <a:pathLst>
              <a:path w="6447258" h="6485088">
                <a:moveTo>
                  <a:pt x="0" y="0"/>
                </a:moveTo>
                <a:lnTo>
                  <a:pt x="6447258" y="0"/>
                </a:lnTo>
                <a:lnTo>
                  <a:pt x="6447258" y="6485088"/>
                </a:lnTo>
                <a:lnTo>
                  <a:pt x="0" y="6485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05143" y="3843300"/>
            <a:ext cx="7089217" cy="5039789"/>
          </a:xfrm>
          <a:custGeom>
            <a:avLst/>
            <a:gdLst/>
            <a:ahLst/>
            <a:cxnLst/>
            <a:rect l="l" t="t" r="r" b="b"/>
            <a:pathLst>
              <a:path w="7089217" h="5039789">
                <a:moveTo>
                  <a:pt x="0" y="0"/>
                </a:moveTo>
                <a:lnTo>
                  <a:pt x="7089217" y="0"/>
                </a:lnTo>
                <a:lnTo>
                  <a:pt x="7089217" y="5039789"/>
                </a:lnTo>
                <a:lnTo>
                  <a:pt x="0" y="50397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49021" y="2745913"/>
            <a:ext cx="6695122" cy="87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23731" y="4047428"/>
            <a:ext cx="7320269" cy="4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2878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The Patient Appointment Booking System is a web-based healthcare platform developed using React.js. The system allows patients to schedule appointments with doctors, access healthcare services, manage medical records, and receive personalized diet recommendations. The platform provides a simple and user-friendly healthcare management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067129"/>
            <a:ext cx="6936539" cy="1669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87527" y="3471822"/>
            <a:ext cx="9370074" cy="415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3103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Traditional appointment booking methods often involve manual processes that are time-consuming and inefficient. Patients may face difficulties in accessing healthcare information, scheduling appointments, and maintaining records. The proposed system addresses these challenges by providing a centralized digital healthcare platform.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4757664"/>
            <a:ext cx="6377467" cy="4406250"/>
          </a:xfrm>
          <a:custGeom>
            <a:avLst/>
            <a:gdLst/>
            <a:ahLst/>
            <a:cxnLst/>
            <a:rect l="l" t="t" r="r" b="b"/>
            <a:pathLst>
              <a:path w="6377467" h="4406250">
                <a:moveTo>
                  <a:pt x="0" y="0"/>
                </a:moveTo>
                <a:lnTo>
                  <a:pt x="6377467" y="0"/>
                </a:lnTo>
                <a:lnTo>
                  <a:pt x="6377467" y="4406250"/>
                </a:lnTo>
                <a:lnTo>
                  <a:pt x="0" y="4406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37173" y="2194704"/>
            <a:ext cx="10405283" cy="87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2456" y="4228606"/>
            <a:ext cx="5709301" cy="5013804"/>
          </a:xfrm>
          <a:custGeom>
            <a:avLst/>
            <a:gdLst/>
            <a:ahLst/>
            <a:cxnLst/>
            <a:rect l="l" t="t" r="r" b="b"/>
            <a:pathLst>
              <a:path w="5709301" h="5013804">
                <a:moveTo>
                  <a:pt x="0" y="0"/>
                </a:moveTo>
                <a:lnTo>
                  <a:pt x="5709301" y="0"/>
                </a:lnTo>
                <a:lnTo>
                  <a:pt x="5709301" y="5013805"/>
                </a:lnTo>
                <a:lnTo>
                  <a:pt x="0" y="50138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30917" y="1525832"/>
            <a:ext cx="3428383" cy="2932696"/>
          </a:xfrm>
          <a:custGeom>
            <a:avLst/>
            <a:gdLst/>
            <a:ahLst/>
            <a:cxnLst/>
            <a:rect l="l" t="t" r="r" b="b"/>
            <a:pathLst>
              <a:path w="3428383" h="2932696">
                <a:moveTo>
                  <a:pt x="0" y="0"/>
                </a:moveTo>
                <a:lnTo>
                  <a:pt x="3428383" y="0"/>
                </a:lnTo>
                <a:lnTo>
                  <a:pt x="3428383" y="2932696"/>
                </a:lnTo>
                <a:lnTo>
                  <a:pt x="0" y="29326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452496" y="-55782"/>
            <a:ext cx="1676017" cy="2168963"/>
          </a:xfrm>
          <a:custGeom>
            <a:avLst/>
            <a:gdLst/>
            <a:ahLst/>
            <a:cxnLst/>
            <a:rect l="l" t="t" r="r" b="b"/>
            <a:pathLst>
              <a:path w="1676017" h="2168963">
                <a:moveTo>
                  <a:pt x="0" y="0"/>
                </a:moveTo>
                <a:lnTo>
                  <a:pt x="1676017" y="0"/>
                </a:lnTo>
                <a:lnTo>
                  <a:pt x="1676017" y="2168964"/>
                </a:lnTo>
                <a:lnTo>
                  <a:pt x="0" y="21689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52139" y="4168986"/>
            <a:ext cx="10890317" cy="357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5000" lvl="1" indent="-372500" algn="l">
              <a:lnSpc>
                <a:spcPts val="4658"/>
              </a:lnSpc>
              <a:buFont typeface="Arial"/>
              <a:buChar char="•"/>
            </a:pPr>
            <a:r>
              <a:rPr lang="en-US" sz="345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Provide online appointment booking facilities.</a:t>
            </a:r>
          </a:p>
          <a:p>
            <a:pPr marL="745000" lvl="1" indent="-372500" algn="l">
              <a:lnSpc>
                <a:spcPts val="4658"/>
              </a:lnSpc>
              <a:buFont typeface="Arial"/>
              <a:buChar char="•"/>
            </a:pPr>
            <a:r>
              <a:rPr lang="en-US" sz="345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Display doctor information and availability.</a:t>
            </a:r>
          </a:p>
          <a:p>
            <a:pPr marL="745000" lvl="1" indent="-372500" algn="l">
              <a:lnSpc>
                <a:spcPts val="4658"/>
              </a:lnSpc>
              <a:buFont typeface="Arial"/>
              <a:buChar char="•"/>
            </a:pPr>
            <a:r>
              <a:rPr lang="en-US" sz="345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Support symptom checking functionality.</a:t>
            </a:r>
          </a:p>
          <a:p>
            <a:pPr marL="745000" lvl="1" indent="-372500" algn="l">
              <a:lnSpc>
                <a:spcPts val="4658"/>
              </a:lnSpc>
              <a:buFont typeface="Arial"/>
              <a:buChar char="•"/>
            </a:pPr>
            <a:r>
              <a:rPr lang="en-US" sz="345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Enable medicine ordering services.</a:t>
            </a:r>
          </a:p>
          <a:p>
            <a:pPr marL="745000" lvl="1" indent="-372500" algn="l">
              <a:lnSpc>
                <a:spcPts val="4658"/>
              </a:lnSpc>
              <a:buFont typeface="Arial"/>
              <a:buChar char="•"/>
            </a:pPr>
            <a:r>
              <a:rPr lang="en-US" sz="345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Maintain payment records.</a:t>
            </a:r>
          </a:p>
          <a:p>
            <a:pPr marL="745000" lvl="1" indent="-372500" algn="l">
              <a:lnSpc>
                <a:spcPts val="4658"/>
              </a:lnSpc>
              <a:buFont typeface="Arial"/>
              <a:buChar char="•"/>
            </a:pPr>
            <a:r>
              <a:rPr lang="en-US" sz="345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Offer personalized diet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482544" y="396976"/>
            <a:ext cx="9322913" cy="113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6"/>
              </a:lnSpc>
              <a:spcBef>
                <a:spcPct val="0"/>
              </a:spcBef>
            </a:pPr>
            <a:r>
              <a:rPr lang="en-US" sz="67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 Used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921AF7-0BDF-57A3-E16B-159EBC7B28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195"/>
          <a:stretch/>
        </p:blipFill>
        <p:spPr>
          <a:xfrm>
            <a:off x="2743201" y="3009901"/>
            <a:ext cx="13842176" cy="4190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54192" y="678804"/>
            <a:ext cx="8979615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54192" y="2544462"/>
            <a:ext cx="10962919" cy="561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Patient</a:t>
            </a:r>
          </a:p>
          <a:p>
            <a:pPr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   ↓</a:t>
            </a:r>
          </a:p>
          <a:p>
            <a:pPr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Login Dashboard</a:t>
            </a:r>
          </a:p>
          <a:p>
            <a:pPr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   ↓</a:t>
            </a:r>
          </a:p>
          <a:p>
            <a:pPr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Appointment / Symptoms / Medicines</a:t>
            </a:r>
          </a:p>
          <a:p>
            <a:pPr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   ↓</a:t>
            </a:r>
          </a:p>
          <a:p>
            <a:pPr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Payments  Records</a:t>
            </a:r>
          </a:p>
          <a:p>
            <a:pPr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   ↓</a:t>
            </a:r>
          </a:p>
          <a:p>
            <a:pPr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Diet Recommendation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54192" y="678804"/>
            <a:ext cx="8979615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 Modules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57714"/>
            <a:ext cx="10962919" cy="59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Login &amp;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DA2332-DD71-E85C-23F5-A71719D8C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3582965"/>
            <a:ext cx="6515765" cy="52256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9B49F6-5258-6ED6-18B2-ED47295E96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7130" y="2257714"/>
            <a:ext cx="6106377" cy="68970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54192" y="678804"/>
            <a:ext cx="8979615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 Modules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57714"/>
            <a:ext cx="10962919" cy="59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1946" lvl="1"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Symptom Checker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C41AD0-AC5D-8EA4-7688-38EF89844B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4306" y="3009900"/>
            <a:ext cx="13499385" cy="67532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54192" y="678804"/>
            <a:ext cx="8979615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 Modules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57714"/>
            <a:ext cx="10962919" cy="59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Doctor Directory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A2002-3A65-B19D-0332-A58B880410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192" y="3314700"/>
            <a:ext cx="9748658" cy="64234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54192" y="678804"/>
            <a:ext cx="8979615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 Modules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57714"/>
            <a:ext cx="10962919" cy="59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1946" lvl="1"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Appointment Booking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AA910B-B4F6-8A84-21F4-99BC2C1059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3162300"/>
            <a:ext cx="8640381" cy="62111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54192" y="678804"/>
            <a:ext cx="8979615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 Modules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57714"/>
            <a:ext cx="10962919" cy="59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1946" lvl="1"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Medicine Ordering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354251-8856-D830-32B1-B46500E78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2356" y="3162300"/>
            <a:ext cx="13187347" cy="6254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54192" y="678804"/>
            <a:ext cx="8979615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 Modules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57714"/>
            <a:ext cx="10962919" cy="59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1946" lvl="1"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Payment System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086394-203B-5BC2-0906-368E0AF0C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1030" y="3206153"/>
            <a:ext cx="7825940" cy="71270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54192" y="678804"/>
            <a:ext cx="8979615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 Modules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57714"/>
            <a:ext cx="10962919" cy="59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1946" lvl="1" algn="l">
              <a:lnSpc>
                <a:spcPts val="4901"/>
              </a:lnSpc>
            </a:pPr>
            <a:r>
              <a:rPr lang="en-US" sz="3630" dirty="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Diet Recommendation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0503C4-BD4C-C15E-0123-85EFD8A75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5600" y="3009900"/>
            <a:ext cx="13636238" cy="63766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332119"/>
            <a:ext cx="513610" cy="513610"/>
          </a:xfrm>
          <a:custGeom>
            <a:avLst/>
            <a:gdLst/>
            <a:ahLst/>
            <a:cxnLst/>
            <a:rect l="l" t="t" r="r" b="b"/>
            <a:pathLst>
              <a:path w="513610" h="513610">
                <a:moveTo>
                  <a:pt x="0" y="0"/>
                </a:moveTo>
                <a:lnTo>
                  <a:pt x="513610" y="0"/>
                </a:lnTo>
                <a:lnTo>
                  <a:pt x="513610" y="513611"/>
                </a:lnTo>
                <a:lnTo>
                  <a:pt x="0" y="5136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91599" y="483284"/>
            <a:ext cx="2287702" cy="293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2354" b="1">
                <a:solidFill>
                  <a:srgbClr val="45636F"/>
                </a:solidFill>
                <a:latin typeface="DM Sans Bold"/>
                <a:ea typeface="DM Sans Bold"/>
                <a:cs typeface="DM Sans Bold"/>
                <a:sym typeface="DM Sans Bold"/>
              </a:rPr>
              <a:t>Borcelle Clinic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3276" y="1884812"/>
            <a:ext cx="5932891" cy="1669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Concepts Used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26736" y="3300812"/>
            <a:ext cx="7587883" cy="4535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759" lvl="1" indent="-324380" algn="l">
              <a:lnSpc>
                <a:spcPts val="4056"/>
              </a:lnSpc>
              <a:buFont typeface="Arial"/>
              <a:buChar char="•"/>
            </a:pPr>
            <a:r>
              <a:rPr lang="en-US" sz="3004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React Components</a:t>
            </a:r>
          </a:p>
          <a:p>
            <a:pPr marL="648759" lvl="1" indent="-324380" algn="l">
              <a:lnSpc>
                <a:spcPts val="4056"/>
              </a:lnSpc>
              <a:buFont typeface="Arial"/>
              <a:buChar char="•"/>
            </a:pPr>
            <a:r>
              <a:rPr lang="en-US" sz="3004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State Management using useState</a:t>
            </a:r>
          </a:p>
          <a:p>
            <a:pPr marL="648759" lvl="1" indent="-324380" algn="l">
              <a:lnSpc>
                <a:spcPts val="4056"/>
              </a:lnSpc>
              <a:buFont typeface="Arial"/>
              <a:buChar char="•"/>
            </a:pPr>
            <a:r>
              <a:rPr lang="en-US" sz="3004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Conditional Rendering</a:t>
            </a:r>
          </a:p>
          <a:p>
            <a:pPr marL="648759" lvl="1" indent="-324380" algn="l">
              <a:lnSpc>
                <a:spcPts val="4056"/>
              </a:lnSpc>
              <a:buFont typeface="Arial"/>
              <a:buChar char="•"/>
            </a:pPr>
            <a:r>
              <a:rPr lang="en-US" sz="3004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Event Handling</a:t>
            </a:r>
          </a:p>
          <a:p>
            <a:pPr marL="648759" lvl="1" indent="-324380" algn="l">
              <a:lnSpc>
                <a:spcPts val="4056"/>
              </a:lnSpc>
              <a:buFont typeface="Arial"/>
              <a:buChar char="•"/>
            </a:pPr>
            <a:r>
              <a:rPr lang="en-US" sz="3004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Form Validation</a:t>
            </a:r>
          </a:p>
          <a:p>
            <a:pPr marL="648759" lvl="1" indent="-324380" algn="l">
              <a:lnSpc>
                <a:spcPts val="4056"/>
              </a:lnSpc>
              <a:buFont typeface="Arial"/>
              <a:buChar char="•"/>
            </a:pPr>
            <a:r>
              <a:rPr lang="en-US" sz="3004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Dynamic Data Display</a:t>
            </a:r>
          </a:p>
          <a:p>
            <a:pPr marL="648759" lvl="1" indent="-324380" algn="l">
              <a:lnSpc>
                <a:spcPts val="4056"/>
              </a:lnSpc>
              <a:buFont typeface="Arial"/>
              <a:buChar char="•"/>
            </a:pPr>
            <a:r>
              <a:rPr lang="en-US" sz="3004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User Interaction Handling</a:t>
            </a:r>
          </a:p>
          <a:p>
            <a:pPr marL="648759" lvl="1" indent="-324380" algn="l">
              <a:lnSpc>
                <a:spcPts val="4056"/>
              </a:lnSpc>
              <a:buFont typeface="Arial"/>
              <a:buChar char="•"/>
            </a:pPr>
            <a:r>
              <a:rPr lang="en-US" sz="3004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Component-Based Architecture</a:t>
            </a:r>
          </a:p>
          <a:p>
            <a:pPr algn="l">
              <a:lnSpc>
                <a:spcPts val="4056"/>
              </a:lnSpc>
            </a:pPr>
            <a:endParaRPr lang="en-US" sz="3004">
              <a:solidFill>
                <a:srgbClr val="234346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028700" y="4757664"/>
            <a:ext cx="6377467" cy="4406250"/>
          </a:xfrm>
          <a:custGeom>
            <a:avLst/>
            <a:gdLst/>
            <a:ahLst/>
            <a:cxnLst/>
            <a:rect l="l" t="t" r="r" b="b"/>
            <a:pathLst>
              <a:path w="6377467" h="4406250">
                <a:moveTo>
                  <a:pt x="0" y="0"/>
                </a:moveTo>
                <a:lnTo>
                  <a:pt x="6377467" y="0"/>
                </a:lnTo>
                <a:lnTo>
                  <a:pt x="6377467" y="4406250"/>
                </a:lnTo>
                <a:lnTo>
                  <a:pt x="0" y="44062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332119"/>
            <a:ext cx="513610" cy="513610"/>
          </a:xfrm>
          <a:custGeom>
            <a:avLst/>
            <a:gdLst/>
            <a:ahLst/>
            <a:cxnLst/>
            <a:rect l="l" t="t" r="r" b="b"/>
            <a:pathLst>
              <a:path w="513610" h="513610">
                <a:moveTo>
                  <a:pt x="0" y="0"/>
                </a:moveTo>
                <a:lnTo>
                  <a:pt x="513610" y="0"/>
                </a:lnTo>
                <a:lnTo>
                  <a:pt x="513610" y="513611"/>
                </a:lnTo>
                <a:lnTo>
                  <a:pt x="0" y="5136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377481" y="225104"/>
            <a:ext cx="1874277" cy="803596"/>
          </a:xfrm>
          <a:custGeom>
            <a:avLst/>
            <a:gdLst/>
            <a:ahLst/>
            <a:cxnLst/>
            <a:rect l="l" t="t" r="r" b="b"/>
            <a:pathLst>
              <a:path w="1874277" h="803596">
                <a:moveTo>
                  <a:pt x="0" y="0"/>
                </a:moveTo>
                <a:lnTo>
                  <a:pt x="1874276" y="0"/>
                </a:lnTo>
                <a:lnTo>
                  <a:pt x="1874276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496722" y="4403143"/>
            <a:ext cx="5755035" cy="4855157"/>
          </a:xfrm>
          <a:custGeom>
            <a:avLst/>
            <a:gdLst/>
            <a:ahLst/>
            <a:cxnLst/>
            <a:rect l="l" t="t" r="r" b="b"/>
            <a:pathLst>
              <a:path w="5755035" h="4855157">
                <a:moveTo>
                  <a:pt x="0" y="0"/>
                </a:moveTo>
                <a:lnTo>
                  <a:pt x="5755035" y="0"/>
                </a:lnTo>
                <a:lnTo>
                  <a:pt x="5755035" y="4855157"/>
                </a:lnTo>
                <a:lnTo>
                  <a:pt x="0" y="48551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614667" y="0"/>
            <a:ext cx="2179455" cy="1442403"/>
          </a:xfrm>
          <a:custGeom>
            <a:avLst/>
            <a:gdLst/>
            <a:ahLst/>
            <a:cxnLst/>
            <a:rect l="l" t="t" r="r" b="b"/>
            <a:pathLst>
              <a:path w="2179455" h="1442403">
                <a:moveTo>
                  <a:pt x="0" y="0"/>
                </a:moveTo>
                <a:lnTo>
                  <a:pt x="2179455" y="0"/>
                </a:lnTo>
                <a:lnTo>
                  <a:pt x="2179455" y="1442403"/>
                </a:lnTo>
                <a:lnTo>
                  <a:pt x="0" y="14424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34896" y="1642428"/>
            <a:ext cx="10073028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sz="7059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Enhancements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4896" y="3913533"/>
            <a:ext cx="8928000" cy="485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706" lvl="1" indent="-390853" algn="l">
              <a:lnSpc>
                <a:spcPts val="4887"/>
              </a:lnSpc>
              <a:buFont typeface="Arial"/>
              <a:buChar char="•"/>
            </a:pPr>
            <a:r>
              <a:rPr lang="en-US" sz="362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Database Integration</a:t>
            </a:r>
          </a:p>
          <a:p>
            <a:pPr algn="l">
              <a:lnSpc>
                <a:spcPts val="4887"/>
              </a:lnSpc>
            </a:pPr>
            <a:endParaRPr lang="en-US" sz="3620">
              <a:solidFill>
                <a:srgbClr val="234346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81706" lvl="1" indent="-390853" algn="l">
              <a:lnSpc>
                <a:spcPts val="4887"/>
              </a:lnSpc>
              <a:buFont typeface="Arial"/>
              <a:buChar char="•"/>
            </a:pPr>
            <a:r>
              <a:rPr lang="en-US" sz="362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Online Video Consultation</a:t>
            </a:r>
          </a:p>
          <a:p>
            <a:pPr algn="l">
              <a:lnSpc>
                <a:spcPts val="4887"/>
              </a:lnSpc>
            </a:pPr>
            <a:endParaRPr lang="en-US" sz="3620">
              <a:solidFill>
                <a:srgbClr val="234346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81706" lvl="1" indent="-390853" algn="l">
              <a:lnSpc>
                <a:spcPts val="4887"/>
              </a:lnSpc>
              <a:buFont typeface="Arial"/>
              <a:buChar char="•"/>
            </a:pPr>
            <a:r>
              <a:rPr lang="en-US" sz="362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AI-based Health Prediction</a:t>
            </a:r>
          </a:p>
          <a:p>
            <a:pPr algn="l">
              <a:lnSpc>
                <a:spcPts val="4887"/>
              </a:lnSpc>
            </a:pPr>
            <a:endParaRPr lang="en-US" sz="3620">
              <a:solidFill>
                <a:srgbClr val="234346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81706" lvl="1" indent="-390853" algn="l">
              <a:lnSpc>
                <a:spcPts val="4887"/>
              </a:lnSpc>
              <a:buFont typeface="Arial"/>
              <a:buChar char="•"/>
            </a:pPr>
            <a:r>
              <a:rPr lang="en-US" sz="3620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Mobile Application Support</a:t>
            </a:r>
          </a:p>
          <a:p>
            <a:pPr algn="l">
              <a:lnSpc>
                <a:spcPts val="4887"/>
              </a:lnSpc>
            </a:pPr>
            <a:endParaRPr lang="en-US" sz="3620">
              <a:solidFill>
                <a:srgbClr val="234346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92448" y="478779"/>
            <a:ext cx="296245" cy="296245"/>
          </a:xfrm>
          <a:custGeom>
            <a:avLst/>
            <a:gdLst/>
            <a:ahLst/>
            <a:cxnLst/>
            <a:rect l="l" t="t" r="r" b="b"/>
            <a:pathLst>
              <a:path w="296245" h="296245">
                <a:moveTo>
                  <a:pt x="0" y="0"/>
                </a:moveTo>
                <a:lnTo>
                  <a:pt x="296246" y="0"/>
                </a:lnTo>
                <a:lnTo>
                  <a:pt x="296246" y="296246"/>
                </a:lnTo>
                <a:lnTo>
                  <a:pt x="0" y="296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3940887"/>
            <a:ext cx="7010394" cy="5351267"/>
          </a:xfrm>
          <a:custGeom>
            <a:avLst/>
            <a:gdLst/>
            <a:ahLst/>
            <a:cxnLst/>
            <a:rect l="l" t="t" r="r" b="b"/>
            <a:pathLst>
              <a:path w="7010394" h="5351267">
                <a:moveTo>
                  <a:pt x="0" y="0"/>
                </a:moveTo>
                <a:lnTo>
                  <a:pt x="7010394" y="0"/>
                </a:lnTo>
                <a:lnTo>
                  <a:pt x="7010394" y="5351267"/>
                </a:lnTo>
                <a:lnTo>
                  <a:pt x="0" y="5351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07483" y="-864082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991594" y="2399853"/>
            <a:ext cx="8260164" cy="1006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8"/>
              </a:lnSpc>
            </a:pPr>
            <a:r>
              <a:rPr lang="en-US" sz="8164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73149" y="4120909"/>
            <a:ext cx="7867422" cy="4943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2"/>
              </a:lnSpc>
            </a:pPr>
            <a:r>
              <a:rPr lang="en-US" sz="3238">
                <a:solidFill>
                  <a:srgbClr val="234346"/>
                </a:solidFill>
                <a:latin typeface="Canva Sans"/>
                <a:ea typeface="Canva Sans"/>
                <a:cs typeface="Canva Sans"/>
                <a:sym typeface="Canva Sans"/>
              </a:rPr>
              <a:t>The Patient Appointment Booking System successfully provides an efficient healthcare management platform. The system integrates appointment scheduling, symptom checking, medicine ordering, payment management, medical records, and diet recommendation features into a single user-friendly application.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r="-9982" b="-2104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21722" y="1741537"/>
            <a:ext cx="10583453" cy="3281957"/>
            <a:chOff x="0" y="0"/>
            <a:chExt cx="2648362" cy="8212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8362" cy="821264"/>
            </a:xfrm>
            <a:custGeom>
              <a:avLst/>
              <a:gdLst/>
              <a:ahLst/>
              <a:cxnLst/>
              <a:rect l="l" t="t" r="r" b="b"/>
              <a:pathLst>
                <a:path w="2648362" h="821264">
                  <a:moveTo>
                    <a:pt x="73151" y="0"/>
                  </a:moveTo>
                  <a:lnTo>
                    <a:pt x="2575211" y="0"/>
                  </a:lnTo>
                  <a:cubicBezTo>
                    <a:pt x="2615611" y="0"/>
                    <a:pt x="2648362" y="32751"/>
                    <a:pt x="2648362" y="73151"/>
                  </a:cubicBezTo>
                  <a:lnTo>
                    <a:pt x="2648362" y="748113"/>
                  </a:lnTo>
                  <a:cubicBezTo>
                    <a:pt x="2648362" y="788513"/>
                    <a:pt x="2615611" y="821264"/>
                    <a:pt x="2575211" y="821264"/>
                  </a:cubicBezTo>
                  <a:lnTo>
                    <a:pt x="73151" y="821264"/>
                  </a:lnTo>
                  <a:cubicBezTo>
                    <a:pt x="32751" y="821264"/>
                    <a:pt x="0" y="788513"/>
                    <a:pt x="0" y="748113"/>
                  </a:cubicBezTo>
                  <a:lnTo>
                    <a:pt x="0" y="73151"/>
                  </a:lnTo>
                  <a:cubicBezTo>
                    <a:pt x="0" y="32751"/>
                    <a:pt x="32751" y="0"/>
                    <a:pt x="73151" y="0"/>
                  </a:cubicBezTo>
                  <a:close/>
                </a:path>
              </a:pathLst>
            </a:custGeom>
            <a:solidFill>
              <a:srgbClr val="C5F0EC">
                <a:alpha val="9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648362" cy="859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8268" y="2873750"/>
            <a:ext cx="8574994" cy="1322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36"/>
              </a:lnSpc>
            </a:pPr>
            <a:r>
              <a:rPr lang="en-US" sz="10706" b="1">
                <a:solidFill>
                  <a:srgbClr val="2343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>
            <a:off x="7458624" y="6920845"/>
            <a:ext cx="5517597" cy="2337455"/>
          </a:xfrm>
          <a:custGeom>
            <a:avLst/>
            <a:gdLst/>
            <a:ahLst/>
            <a:cxnLst/>
            <a:rect l="l" t="t" r="r" b="b"/>
            <a:pathLst>
              <a:path w="5517597" h="2337455">
                <a:moveTo>
                  <a:pt x="0" y="0"/>
                </a:moveTo>
                <a:lnTo>
                  <a:pt x="5517597" y="0"/>
                </a:lnTo>
                <a:lnTo>
                  <a:pt x="5517597" y="2337455"/>
                </a:lnTo>
                <a:lnTo>
                  <a:pt x="0" y="2337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327010" y="403104"/>
            <a:ext cx="3568542" cy="7148999"/>
          </a:xfrm>
          <a:custGeom>
            <a:avLst/>
            <a:gdLst/>
            <a:ahLst/>
            <a:cxnLst/>
            <a:rect l="l" t="t" r="r" b="b"/>
            <a:pathLst>
              <a:path w="3568542" h="7148999">
                <a:moveTo>
                  <a:pt x="0" y="0"/>
                </a:moveTo>
                <a:lnTo>
                  <a:pt x="3568542" y="0"/>
                </a:lnTo>
                <a:lnTo>
                  <a:pt x="3568542" y="7148998"/>
                </a:lnTo>
                <a:lnTo>
                  <a:pt x="0" y="71489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285060" y="1028700"/>
            <a:ext cx="4189615" cy="8229600"/>
          </a:xfrm>
          <a:custGeom>
            <a:avLst/>
            <a:gdLst/>
            <a:ahLst/>
            <a:cxnLst/>
            <a:rect l="l" t="t" r="r" b="b"/>
            <a:pathLst>
              <a:path w="4189615" h="8229600">
                <a:moveTo>
                  <a:pt x="0" y="0"/>
                </a:moveTo>
                <a:lnTo>
                  <a:pt x="4189615" y="0"/>
                </a:lnTo>
                <a:lnTo>
                  <a:pt x="418961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963262" y="3089065"/>
            <a:ext cx="8296038" cy="6169235"/>
          </a:xfrm>
          <a:custGeom>
            <a:avLst/>
            <a:gdLst/>
            <a:ahLst/>
            <a:cxnLst/>
            <a:rect l="l" t="t" r="r" b="b"/>
            <a:pathLst>
              <a:path w="8296038" h="6169235">
                <a:moveTo>
                  <a:pt x="0" y="0"/>
                </a:moveTo>
                <a:lnTo>
                  <a:pt x="8296038" y="0"/>
                </a:lnTo>
                <a:lnTo>
                  <a:pt x="8296038" y="6169235"/>
                </a:lnTo>
                <a:lnTo>
                  <a:pt x="0" y="61692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277</Words>
  <Application>Microsoft Office PowerPoint</Application>
  <PresentationFormat>Custom</PresentationFormat>
  <Paragraphs>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Canva Sans Bold</vt:lpstr>
      <vt:lpstr>DM Sans Bold</vt:lpstr>
      <vt:lpstr>Arial</vt:lpstr>
      <vt:lpstr>Canva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Teal and White Illustrated Healthcare Consultation Presentation</dc:title>
  <dc:creator>Rushvini Sappidi</dc:creator>
  <cp:lastModifiedBy>Rushvini Sappidi</cp:lastModifiedBy>
  <cp:revision>4</cp:revision>
  <dcterms:created xsi:type="dcterms:W3CDTF">2006-08-16T00:00:00Z</dcterms:created>
  <dcterms:modified xsi:type="dcterms:W3CDTF">2026-06-19T04:33:46Z</dcterms:modified>
  <dc:identifier>DAHM78eTeTw</dc:identifier>
</cp:coreProperties>
</file>